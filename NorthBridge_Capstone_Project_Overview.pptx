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8D57"/>
                </a:solidFill>
                <a:latin typeface="Calibri"/>
              </a:rPr>
              <a:t>CAPSTONE PROJECT 02   ·   CONSULTING OR PROJECT DELIVERY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NorthBridge ERP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E7EAF3"/>
                </a:solidFill>
                <a:latin typeface="Cambria"/>
              </a:rPr>
              <a:t>Delivery Risk &amp; Escalation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8046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7EAF3"/>
                </a:solidFill>
                <a:latin typeface="Calibri"/>
              </a:rPr>
              <a:t>Turning unstructured meeting transcripts into a validated risk tracker and a leadership-ready status report — automatically, with a human review step before anything reaches the Steering Committee.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3474720" cy="960120"/>
          </a:xfrm>
          <a:prstGeom prst="roundRect">
            <a:avLst>
              <a:gd name="adj" fmla="val 6000"/>
            </a:avLst>
          </a:prstGeom>
          <a:solidFill>
            <a:srgbClr val="2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3708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8D57"/>
                </a:solidFill>
                <a:latin typeface="Calibri"/>
              </a:rPr>
              <a:t>Gen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709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EAF3"/>
                </a:solidFill>
                <a:latin typeface="Calibri"/>
              </a:rPr>
              <a:t>Claude · extraction + narrative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297680"/>
            <a:ext cx="3474720" cy="960120"/>
          </a:xfrm>
          <a:prstGeom prst="roundRect">
            <a:avLst>
              <a:gd name="adj" fmla="val 6000"/>
            </a:avLst>
          </a:prstGeom>
          <a:solidFill>
            <a:srgbClr val="2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43708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8D57"/>
                </a:solidFill>
                <a:latin typeface="Calibri"/>
              </a:rPr>
              <a:t>Deterministic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4709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EAF3"/>
                </a:solidFill>
                <a:latin typeface="Calibri"/>
              </a:rPr>
              <a:t>n8n Code + formulas ·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4297680"/>
            <a:ext cx="3474720" cy="960120"/>
          </a:xfrm>
          <a:prstGeom prst="roundRect">
            <a:avLst>
              <a:gd name="adj" fmla="val 6000"/>
            </a:avLst>
          </a:prstGeom>
          <a:solidFill>
            <a:srgbClr val="2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43708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08D57"/>
                </a:solidFill>
                <a:latin typeface="Calibri"/>
              </a:rP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4709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7EAF3"/>
                </a:solidFill>
                <a:latin typeface="Calibri"/>
              </a:rPr>
              <a:t>PM approval before it 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2636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8"/>
                </a:solidFill>
                <a:latin typeface="Calibri"/>
              </a:rPr>
              <a:t>Gen AI for Business  |  Executive MBA Capstone  |  Devyani Varati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A44"/>
                </a:solidFill>
                <a:latin typeface="Cambria"/>
              </a:rPr>
              <a:t>The problem, and 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521208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A44"/>
                </a:solidFill>
                <a:latin typeface="Calibri"/>
              </a:rPr>
              <a:t>SITUATION &amp; COMPLICATION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C3A5E"/>
                </a:solidFill>
                <a:latin typeface="Calibri"/>
              </a:rPr>
              <a:t>NorthBridge Retail Group is mid-way through an SAP S/4HANA transformation across Finance, Supply Chain and Store Operations. Every week generates meeting transcripts full of commitments, risks and decisions — but they live only in people's memory and scattered notes.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C3A5E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C3A5E"/>
                </a:solidFill>
                <a:latin typeface="Calibri"/>
              </a:rPr>
              <a:t>By the time an issue reaches the Steering Committee, it has often already slipped. The PMO spends hours manually re-reading transcripts to build status reports instead of managing the actual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A44"/>
                </a:solidFill>
                <a:latin typeface="Calibri"/>
              </a:rPr>
              <a:t>MINIMUM VIABLE CAPSTONE 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79392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25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2C3A5E"/>
                </a:solidFill>
                <a:latin typeface="Calibri"/>
              </a:rPr>
              <a:t>Small project plan + fictional meeting transcripts as input</a:t>
            </a:r>
          </a:p>
          <a:p>
            <a:pPr marL="182880" indent="-182880">
              <a:lnSpc>
                <a:spcPct val="125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2C3A5E"/>
                </a:solidFill>
                <a:latin typeface="Calibri"/>
              </a:rPr>
              <a:t>Converted into actions, risks, a status report, and a dashboard</a:t>
            </a:r>
          </a:p>
          <a:p>
            <a:pPr marL="182880" indent="-182880">
              <a:lnSpc>
                <a:spcPct val="125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2C3A5E"/>
                </a:solidFill>
                <a:latin typeface="Calibri"/>
              </a:rPr>
              <a:t>Programme Manager reviews every AI-drafted output before it 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9844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A44"/>
                </a:solidFill>
                <a:latin typeface="Calibri"/>
              </a:rPr>
              <a:t>THE SOLUTION — THREE-LAYER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64208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Calibri"/>
              </a:rPr>
              <a:t>Gen AI extracts (STAR)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93392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Calibri"/>
              </a:rPr>
              <a:t>Claude reads raw transcripts and pulls out actions, owners, due dates and priorities.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2862072"/>
            <a:ext cx="457200" cy="457200"/>
          </a:xfrm>
          <a:prstGeom prst="ellipse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Calibri"/>
              </a:rPr>
              <a:t>Deterministic logic validates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163824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Calibri"/>
              </a:rPr>
              <a:t>n8n Code node + spreadsheet formulas check owners against the project plan and calculate OVERDUE / AT RISK / ON TRACK from real dates. No AI judgement here.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4032504"/>
            <a:ext cx="457200" cy="457200"/>
          </a:xfrm>
          <a:prstGeom prst="ellipse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005072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Calibri"/>
              </a:rPr>
              <a:t>Gen AI narrates (BLUF &amp; SCQA)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334256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Calibri"/>
              </a:rPr>
              <a:t>Claude drafts the weekly status update and any Steering Committee escalation — narrating the numbers, never recalculating them.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5202936"/>
            <a:ext cx="457200" cy="457200"/>
          </a:xfrm>
          <a:prstGeom prst="ellipse">
            <a:avLst/>
          </a:prstGeom>
          <a:solidFill>
            <a:srgbClr val="B08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175504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A44"/>
                </a:solidFill>
                <a:latin typeface="Calibri"/>
              </a:rPr>
              <a:t>Human reviews &amp; approves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504688"/>
            <a:ext cx="4709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B6478"/>
                </a:solidFill>
                <a:latin typeface="Calibri"/>
              </a:rPr>
              <a:t>Every draft lands in a review channel/sheet first. Nothing reaches leadership unreviewed.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641908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08D57"/>
                </a:solidFill>
                <a:latin typeface="Calibri"/>
              </a:rPr>
              <a:t>TECH STACK:  n8n  ·  Claude (Cowork / API)  ·  Google Sheets  ·  Webhooks / 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A44"/>
                </a:solidFill>
                <a:latin typeface="Cambria"/>
              </a:rPr>
              <a:t>Live output — Risk &amp; Action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371600" cy="11430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A44"/>
                </a:solidFill>
                <a:latin typeface="Cambr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73352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Open Actions &amp;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097280"/>
            <a:ext cx="1371600" cy="11430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C0392B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673352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Overdue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097280"/>
            <a:ext cx="1371600" cy="11430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17043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B7791F"/>
                </a:solidFill>
                <a:latin typeface="Cambria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73352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At Risk (≤ 3 days)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19" y="1097280"/>
            <a:ext cx="1371600" cy="11430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19" y="117043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E8449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1673352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On 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79" y="1097280"/>
            <a:ext cx="1371600" cy="1143000"/>
          </a:xfrm>
          <a:prstGeom prst="roundRect">
            <a:avLst>
              <a:gd name="adj" fmla="val 6000"/>
            </a:avLst>
          </a:prstGeom>
          <a:solidFill>
            <a:srgbClr val="E7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17043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7D3C98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1673352"/>
            <a:ext cx="1371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Owner Validation</a:t>
            </a: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8"/>
                </a:solidFill>
                <a:latin typeface="Calibri"/>
              </a:rPr>
              <a:t>Flag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560320"/>
          <a:ext cx="7406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737360"/>
                <a:gridCol w="91440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Send store training rollout schedule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James O'Connor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Aug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7791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Prepare change-request cost summary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Rahul Verma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Aug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7791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Decide: delay UAT cycle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Steering Committee ⚠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Aug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7791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Complete supply chain data extraction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Fatima Rahman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Aug 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Retest severity-1 Finance UAT defects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Priya Nair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C3A5E"/>
                          </a:solidFill>
                          <a:latin typeface="Calibri"/>
                        </a:rPr>
                        <a:t>Aug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449"/>
                          </a:solidFill>
                          <a:latin typeface="Calibri"/>
                        </a:rPr>
                        <a:t>ON TRACK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229600" y="109728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2801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8D57"/>
                </a:solidFill>
                <a:latin typeface="Calibri"/>
              </a:rPr>
              <a:t>DELIVERABLES INCLUDED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691640"/>
            <a:ext cx="2926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-18288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150">
                <a:solidFill>
                  <a:srgbClr val="E7EAF3"/>
                </a:solidFill>
                <a:latin typeface="Calibri"/>
              </a:rPr>
              <a:t>Spreadsheet — plan, transcripts, tracker, BLUF &amp; SCQA outputs</a:t>
            </a:r>
          </a:p>
          <a:p>
            <a:pPr marL="182880" indent="-18288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150">
                <a:solidFill>
                  <a:srgbClr val="E7EAF3"/>
                </a:solidFill>
                <a:latin typeface="Calibri"/>
              </a:rPr>
              <a:t>n8n workflow (.json) — importable, 3 Claude nodes + deterministic engine</a:t>
            </a:r>
          </a:p>
          <a:p>
            <a:pPr marL="182880" indent="-18288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150">
                <a:solidFill>
                  <a:srgbClr val="E7EAF3"/>
                </a:solidFill>
                <a:latin typeface="Calibri"/>
              </a:rPr>
              <a:t>Prompts &amp; frameworks reference doc</a:t>
            </a:r>
          </a:p>
          <a:p>
            <a:pPr marL="182880" indent="-18288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150">
                <a:solidFill>
                  <a:srgbClr val="E7EAF3"/>
                </a:solidFill>
                <a:latin typeface="Calibri"/>
              </a:rPr>
              <a:t>Interactive HTML dashboard</a:t>
            </a:r>
          </a:p>
          <a:p>
            <a:pPr marL="182880" indent="-182880">
              <a:lnSpc>
                <a:spcPct val="130000"/>
              </a:lnSpc>
              <a:spcAft>
                <a:spcPts val="600"/>
              </a:spcAft>
              <a:buChar char="•"/>
            </a:pPr>
            <a:r>
              <a:rPr sz="1150">
                <a:solidFill>
                  <a:srgbClr val="E7EAF3"/>
                </a:solidFill>
                <a:latin typeface="Calibri"/>
              </a:rPr>
              <a:t>This overview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478"/>
                </a:solidFill>
                <a:latin typeface="Calibri"/>
              </a:rPr>
              <a:t>NorthBridge Retail Group is a fictional company; all data is synthetic and built for this capstone.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